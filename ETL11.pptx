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2" r:id="rId1"/>
  </p:sldMasterIdLst>
  <p:sldIdLst>
    <p:sldId id="256" r:id="rId2"/>
    <p:sldId id="257" r:id="rId3"/>
    <p:sldId id="259" r:id="rId4"/>
    <p:sldId id="260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149A49-3FA3-46D5-884E-CC097BD2B92E}" v="49" dt="2024-04-15T06:35:24.7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9BF18-BD7F-8BF9-FA89-85A81598AF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39B45-7776-6D06-917B-E19EA277C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B81B8-8291-3541-0351-A1661DAA1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F9FA1-95CF-0083-AD6F-86279F1C2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2375F-F12A-34FF-6DFF-ED6BE8171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309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A60C0-E776-10A0-9A49-58A3E3BA7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0F44B-53A3-AC15-7479-352E42A27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CF7C1-5D1A-77D3-94B3-EB444BBA6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84F96-3BFD-2EE4-9F24-00D86E290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F2787-628D-4070-61BE-929E7F8AC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596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DD382-5E78-597F-6CE8-786F84032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71A032-987C-B960-47CC-1FA735957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126D6-2A2F-9271-1866-1979E9046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8EF35-F9B3-C0B5-5BA6-F20D8D123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D8948-F02B-63F0-CEB0-9957B13FE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947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20FBF-1C9E-D8A0-39C9-F35B6DAC8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1A0D6-D298-7683-94ED-225672777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EA5B52-5F37-F470-5980-71856DB53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7213B-3ED8-EE30-6A15-90EFC22CB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330485-7522-D2B0-ABF3-A40605842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4AC416-1636-8FB1-620C-FCBB146D3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439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1ECCE-7F7F-FCDF-BF6F-1977CFBE9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78697-7D6D-26D6-EEBC-F4341398A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CE7C27-D2BC-0465-C45D-7C849B1BA1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943B15-DD8F-ADD2-4FFA-51A482F875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1E2CAF-0111-FDF2-8635-1A9DEA4901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F3B46A-A7F7-BB93-DD2A-3E74B0F16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FD32FF-79F6-02B4-CC16-5DAE11E2A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8AA0AF-AF2E-6D68-8E3F-B971A0EA7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634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467BE-2DE7-CFA2-0024-26AA3352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89A837-2D72-8901-3CAA-A7E7923CC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D6CFD9-8CD5-F4A8-E194-9573DC4FC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C38718-D053-F657-8E27-BE42EF44A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706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D3606C-0C4C-3B65-C2CE-5B28BE92A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1912FA-6F02-0C58-5454-4EFE53A9C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D269B-EA51-31F6-6B8D-621F953A9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306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F4D12-DDD9-96CC-E3E5-769B3F526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B28F7-22FE-7D8E-F8AC-3CB439731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B102D7-7843-CB43-786F-BD0238BC3D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46AA9E-81BB-BF71-DCAD-F1EC97FF5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A30D39-3D52-FF41-701C-3E6F515F5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3E864-0F3D-8D14-3F7B-EA7983556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857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7360D-9436-3FA6-D36E-5A894365E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7722CD-DE84-6C41-834D-A347C328A9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4F6820-485C-A42A-5BD6-EB3B123B3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C14A9D-B6AD-15FA-83DB-AE58293B3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DCD66-2F9B-3249-A77B-A23798455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7E6222-A28B-0A65-47EF-E9D2A9CE2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4081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DD4AA-00F2-AD72-6168-21AEA3640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11E906-71A7-D332-82DB-D5ECE5CB34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21269-6E3D-9133-74BA-426726C36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C658C-1870-EF6F-E95C-4B741EE8D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A929C-C6F6-0BAF-C7D0-9EFBAF14A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914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DA336C-5A8E-0049-CBBD-7785687A70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6CAC98-B4DA-9500-14F8-36E5B66C6E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D8677-023F-1914-B7F7-4A70C5852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383AF-E99A-C5EE-D930-6D72C27E1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67FD9-3EDD-703E-B113-921EB1BEF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333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840780-02D3-2F5C-84D4-753FAA03C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30691-C06C-612F-1565-8660758A6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98992-1C00-53C3-7B18-980F9DDB9B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71F0C-9DD1-6CC3-CECB-540B632FAA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9D00D-CD96-97B1-35AC-C1D71FC6F2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527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54" r:id="rId2"/>
    <p:sldLayoutId id="2147483955" r:id="rId3"/>
    <p:sldLayoutId id="2147483956" r:id="rId4"/>
    <p:sldLayoutId id="2147483957" r:id="rId5"/>
    <p:sldLayoutId id="2147483958" r:id="rId6"/>
    <p:sldLayoutId id="2147483959" r:id="rId7"/>
    <p:sldLayoutId id="2147483960" r:id="rId8"/>
    <p:sldLayoutId id="2147483961" r:id="rId9"/>
    <p:sldLayoutId id="2147483962" r:id="rId10"/>
    <p:sldLayoutId id="2147483963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0DC98D9C-1070-6900-732A-5333DB4721D2}"/>
              </a:ext>
            </a:extLst>
          </p:cNvPr>
          <p:cNvSpPr txBox="1"/>
          <p:nvPr/>
        </p:nvSpPr>
        <p:spPr>
          <a:xfrm>
            <a:off x="308631" y="299169"/>
            <a:ext cx="10489998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DATAOPS – ETL PROCESS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/>
                <a:cs typeface="Times New Roman"/>
              </a:rPr>
              <a:t>INTRODUCTION ABOUT ARCHITECTURE OF ETL PROCESS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/>
                <a:cs typeface="Times New Roman"/>
              </a:rPr>
              <a:t>EXPLANATION OF TOOLS AND TECHNOLOGIES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/>
                <a:cs typeface="Times New Roman"/>
              </a:rPr>
              <a:t>DEMO OF PROCESS</a:t>
            </a:r>
          </a:p>
          <a:p>
            <a:endParaRPr lang="en-US" sz="2400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290384-5FD4-1BEB-FEA1-0DA9AE9B7C49}"/>
              </a:ext>
            </a:extLst>
          </p:cNvPr>
          <p:cNvSpPr txBox="1"/>
          <p:nvPr/>
        </p:nvSpPr>
        <p:spPr>
          <a:xfrm>
            <a:off x="659301" y="1474969"/>
            <a:ext cx="2823919" cy="186876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cap="all">
                <a:latin typeface="+mj-lt"/>
                <a:ea typeface="+mj-ea"/>
                <a:cs typeface="+mj-cs"/>
              </a:rPr>
              <a:t>ETL PROCESS</a:t>
            </a:r>
          </a:p>
        </p:txBody>
      </p:sp>
      <p:pic>
        <p:nvPicPr>
          <p:cNvPr id="3" name="Picture 2" descr="The ETL Process Explained">
            <a:extLst>
              <a:ext uri="{FF2B5EF4-FFF2-40B4-BE49-F238E27FC236}">
                <a16:creationId xmlns:a16="http://schemas.microsoft.com/office/drawing/2014/main" id="{FF60FB81-E70E-8A0F-B366-96DC60251B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" b="8621"/>
          <a:stretch/>
        </p:blipFill>
        <p:spPr bwMode="auto">
          <a:xfrm>
            <a:off x="4618374" y="1635767"/>
            <a:ext cx="6282919" cy="2827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1726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 descr="A diagram of a diagram">
            <a:extLst>
              <a:ext uri="{FF2B5EF4-FFF2-40B4-BE49-F238E27FC236}">
                <a16:creationId xmlns:a16="http://schemas.microsoft.com/office/drawing/2014/main" id="{04304002-5B5B-AC75-E6AE-FC3E97DCFC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41251"/>
          <a:stretch/>
        </p:blipFill>
        <p:spPr>
          <a:xfrm>
            <a:off x="20" y="10"/>
            <a:ext cx="12191675" cy="68579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C477B2-C384-4088-26F0-4FCC7A03D979}"/>
              </a:ext>
            </a:extLst>
          </p:cNvPr>
          <p:cNvSpPr txBox="1"/>
          <p:nvPr/>
        </p:nvSpPr>
        <p:spPr>
          <a:xfrm>
            <a:off x="6094412" y="5239131"/>
            <a:ext cx="5279490" cy="96008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cap="all">
                <a:solidFill>
                  <a:srgbClr val="FFFFFE"/>
                </a:solidFill>
                <a:latin typeface="+mj-lt"/>
                <a:ea typeface="+mj-ea"/>
                <a:cs typeface="+mj-cs"/>
              </a:rPr>
              <a:t>ARCHITECTURE OF ETL</a:t>
            </a:r>
          </a:p>
        </p:txBody>
      </p:sp>
    </p:spTree>
    <p:extLst>
      <p:ext uri="{BB962C8B-B14F-4D97-AF65-F5344CB8AC3E}">
        <p14:creationId xmlns:p14="http://schemas.microsoft.com/office/powerpoint/2010/main" val="96581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D54D31-4912-E398-3195-C4D5D78B98DA}"/>
              </a:ext>
            </a:extLst>
          </p:cNvPr>
          <p:cNvSpPr txBox="1"/>
          <p:nvPr/>
        </p:nvSpPr>
        <p:spPr>
          <a:xfrm>
            <a:off x="490220" y="3105834"/>
            <a:ext cx="6101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Cambria" panose="02040503050406030204" pitchFamily="18" charset="0"/>
                <a:ea typeface="Times New Roman" panose="02020603050405020304" pitchFamily="18" charset="0"/>
              </a:rPr>
              <a:t>Aws </a:t>
            </a:r>
            <a:r>
              <a:rPr lang="en-US" sz="1800" b="1" dirty="0"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Tools and technologies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3697E20-5539-9006-3835-67EEFB3CE5DF}"/>
              </a:ext>
            </a:extLst>
          </p:cNvPr>
          <p:cNvSpPr txBox="1">
            <a:spLocks/>
          </p:cNvSpPr>
          <p:nvPr/>
        </p:nvSpPr>
        <p:spPr>
          <a:xfrm>
            <a:off x="3576321" y="0"/>
            <a:ext cx="823976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en-US" sz="1600" b="1" dirty="0">
                <a:latin typeface="Cambria" panose="02040503050406030204" pitchFamily="18" charset="0"/>
                <a:ea typeface="Times New Roman" panose="02020603050405020304" pitchFamily="18" charset="0"/>
              </a:rPr>
              <a:t>S3 Buckets: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" panose="02040503050406030204" pitchFamily="18" charset="0"/>
                <a:ea typeface="Times New Roman" panose="02020603050405020304" pitchFamily="18" charset="0"/>
              </a:rPr>
              <a:t>S3 buckets are used to store the raw unstructured data that needs to be transformed.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" panose="02040503050406030204" pitchFamily="18" charset="0"/>
                <a:ea typeface="Times New Roman" panose="02020603050405020304" pitchFamily="18" charset="0"/>
              </a:rPr>
              <a:t>You can upload files to S3 buckets, and AWS Glue can read the data from these buckets during the extraction phase of the ETL process.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en-US" sz="1600" b="1" dirty="0">
                <a:latin typeface="Cambria" panose="02040503050406030204" pitchFamily="18" charset="0"/>
                <a:ea typeface="Times New Roman" panose="02020603050405020304" pitchFamily="18" charset="0"/>
              </a:rPr>
              <a:t>AWS Code Pipeline: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" panose="02040503050406030204" pitchFamily="18" charset="0"/>
                <a:ea typeface="Times New Roman" panose="02020603050405020304" pitchFamily="18" charset="0"/>
              </a:rPr>
              <a:t>AWS Code Pipeline is a fully managed continuous integration and continuous delivery (CI/CD) service.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" panose="02040503050406030204" pitchFamily="18" charset="0"/>
                <a:ea typeface="Times New Roman" panose="02020603050405020304" pitchFamily="18" charset="0"/>
              </a:rPr>
              <a:t>In the context of the ETL process, Code Pipeline can be used to orchestrate the execution of various stages (Dev, test, prod environment) involved in the data transformation pipeline. 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" panose="02040503050406030204" pitchFamily="18" charset="0"/>
                <a:ea typeface="Times New Roman" panose="02020603050405020304" pitchFamily="18" charset="0"/>
              </a:rPr>
              <a:t>code Pipeline can trigger the execution of AWS Glue jobs whenever there are updates or changes in the source data.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en-US" sz="1600" b="1" dirty="0">
                <a:latin typeface="Cambria" panose="02040503050406030204" pitchFamily="18" charset="0"/>
                <a:ea typeface="Times New Roman" panose="02020603050405020304" pitchFamily="18" charset="0"/>
              </a:rPr>
              <a:t>AWS Code Commit: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" panose="02040503050406030204" pitchFamily="18" charset="0"/>
                <a:ea typeface="Times New Roman" panose="02020603050405020304" pitchFamily="18" charset="0"/>
              </a:rPr>
              <a:t>It allows you to store and manage your application code, including the code for AWS Glue jobs.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en-US" sz="1600" b="1" dirty="0">
                <a:latin typeface="Cambria" panose="02040503050406030204" pitchFamily="18" charset="0"/>
                <a:ea typeface="Times New Roman" panose="02020603050405020304" pitchFamily="18" charset="0"/>
              </a:rPr>
              <a:t>AWS Code Build: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" panose="02040503050406030204" pitchFamily="18" charset="0"/>
                <a:ea typeface="Times New Roman" panose="02020603050405020304" pitchFamily="18" charset="0"/>
              </a:rPr>
              <a:t>Code Build can be integrated into your Code Pipeline workflow to build and package the code for your AWS Glue job. 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" panose="02040503050406030204" pitchFamily="18" charset="0"/>
                <a:ea typeface="Times New Roman" panose="02020603050405020304" pitchFamily="18" charset="0"/>
              </a:rPr>
              <a:t>For example we are using the code build responsible to trigger the pipeline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" panose="02040503050406030204" pitchFamily="18" charset="0"/>
                <a:ea typeface="Times New Roman" panose="02020603050405020304" pitchFamily="18" charset="0"/>
              </a:rPr>
              <a:t>we are approving manually within the code pipeline before going to next environment. 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en-US" sz="1600" b="1" dirty="0">
                <a:latin typeface="Cambria" panose="02040503050406030204" pitchFamily="18" charset="0"/>
                <a:ea typeface="Times New Roman" panose="02020603050405020304" pitchFamily="18" charset="0"/>
              </a:rPr>
              <a:t>AWS Glue Job: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en-US" sz="1600" dirty="0">
                <a:latin typeface="Cambria" panose="02040503050406030204" pitchFamily="18" charset="0"/>
                <a:ea typeface="Times New Roman" panose="02020603050405020304" pitchFamily="18" charset="0"/>
              </a:rPr>
              <a:t>An AWS Glue job is responsible for orchestrating the ETL process to transform unstructured data into structured data.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227753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1479D6-373D-EA2F-A3E6-D79B87040962}"/>
              </a:ext>
            </a:extLst>
          </p:cNvPr>
          <p:cNvSpPr txBox="1"/>
          <p:nvPr/>
        </p:nvSpPr>
        <p:spPr>
          <a:xfrm>
            <a:off x="288000" y="2421404"/>
            <a:ext cx="3852223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4000" b="1" dirty="0">
              <a:latin typeface="Times New Roman"/>
              <a:cs typeface="Times New Roman"/>
            </a:endParaRPr>
          </a:p>
          <a:p>
            <a:r>
              <a:rPr lang="en-US" sz="4000" b="1" dirty="0">
                <a:latin typeface="Times New Roman"/>
                <a:cs typeface="Times New Roman"/>
              </a:rPr>
              <a:t>CICD FOR DEV ENV</a:t>
            </a:r>
          </a:p>
        </p:txBody>
      </p:sp>
      <p:pic>
        <p:nvPicPr>
          <p:cNvPr id="3" name="Content Placeholder 16">
            <a:extLst>
              <a:ext uri="{FF2B5EF4-FFF2-40B4-BE49-F238E27FC236}">
                <a16:creationId xmlns:a16="http://schemas.microsoft.com/office/drawing/2014/main" id="{3016C60B-A2C2-6AD3-40EF-0B85B3EC0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686" y="-76200"/>
            <a:ext cx="8675914" cy="693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945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6">
            <a:extLst>
              <a:ext uri="{FF2B5EF4-FFF2-40B4-BE49-F238E27FC236}">
                <a16:creationId xmlns:a16="http://schemas.microsoft.com/office/drawing/2014/main" id="{27EE5F63-BB77-F250-840B-648D89086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606" y="-255423"/>
            <a:ext cx="8675914" cy="6934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BAD232-7D7E-F80F-36E1-27201A497F24}"/>
              </a:ext>
            </a:extLst>
          </p:cNvPr>
          <p:cNvSpPr txBox="1"/>
          <p:nvPr/>
        </p:nvSpPr>
        <p:spPr>
          <a:xfrm>
            <a:off x="507456" y="3244334"/>
            <a:ext cx="6210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/>
                <a:cs typeface="Times New Roman"/>
              </a:rPr>
              <a:t>CICD </a:t>
            </a:r>
            <a:r>
              <a:rPr lang="en-US" sz="1800" b="1">
                <a:latin typeface="Times New Roman"/>
                <a:cs typeface="Times New Roman"/>
              </a:rPr>
              <a:t>FOR PROD </a:t>
            </a:r>
            <a:r>
              <a:rPr lang="en-US" sz="1800" b="1" dirty="0">
                <a:latin typeface="Times New Roman"/>
                <a:cs typeface="Times New Roman"/>
              </a:rPr>
              <a:t>ENV</a:t>
            </a:r>
          </a:p>
        </p:txBody>
      </p:sp>
    </p:spTree>
    <p:extLst>
      <p:ext uri="{BB962C8B-B14F-4D97-AF65-F5344CB8AC3E}">
        <p14:creationId xmlns:p14="http://schemas.microsoft.com/office/powerpoint/2010/main" val="24315396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</TotalTime>
  <Words>260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Cambria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Likhitha Shreenivasa</dc:creator>
  <cp:lastModifiedBy>Likhitha Shreenivasa</cp:lastModifiedBy>
  <cp:revision>147</cp:revision>
  <dcterms:created xsi:type="dcterms:W3CDTF">2024-03-12T13:47:47Z</dcterms:created>
  <dcterms:modified xsi:type="dcterms:W3CDTF">2024-04-15T06:38:54Z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b623b29-abd1-4de3-a20c-27566d79b7c7_Enabled">
    <vt:lpwstr>true</vt:lpwstr>
  </property>
  <property fmtid="{D5CDD505-2E9C-101B-9397-08002B2CF9AE}" pid="3" name="MSIP_Label_3b623b29-abd1-4de3-a20c-27566d79b7c7_SetDate">
    <vt:lpwstr>2024-04-12T12:38:00Z</vt:lpwstr>
  </property>
  <property fmtid="{D5CDD505-2E9C-101B-9397-08002B2CF9AE}" pid="4" name="MSIP_Label_3b623b29-abd1-4de3-a20c-27566d79b7c7_Method">
    <vt:lpwstr>Standard</vt:lpwstr>
  </property>
  <property fmtid="{D5CDD505-2E9C-101B-9397-08002B2CF9AE}" pid="5" name="MSIP_Label_3b623b29-abd1-4de3-a20c-27566d79b7c7_Name">
    <vt:lpwstr>3b623b29-abd1-4de3-a20c-27566d79b7c7</vt:lpwstr>
  </property>
  <property fmtid="{D5CDD505-2E9C-101B-9397-08002B2CF9AE}" pid="6" name="MSIP_Label_3b623b29-abd1-4de3-a20c-27566d79b7c7_SiteId">
    <vt:lpwstr>cbede638-a3d9-459f-8f4e-24ced73b4e5e</vt:lpwstr>
  </property>
  <property fmtid="{D5CDD505-2E9C-101B-9397-08002B2CF9AE}" pid="7" name="MSIP_Label_3b623b29-abd1-4de3-a20c-27566d79b7c7_ActionId">
    <vt:lpwstr>459ddc63-46b5-4482-bd30-427fa346859c</vt:lpwstr>
  </property>
  <property fmtid="{D5CDD505-2E9C-101B-9397-08002B2CF9AE}" pid="8" name="MSIP_Label_3b623b29-abd1-4de3-a20c-27566d79b7c7_ContentBits">
    <vt:lpwstr>0</vt:lpwstr>
  </property>
</Properties>
</file>